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3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6903720" cy="1417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>
                <a:solidFill>
                  <a:srgbClr val="132746"/>
                </a:solidFill>
                <a:latin typeface="Aptos"/>
              </a:defRPr>
            </a:pPr>
            <a:r>
              <a:t>Transformer-Based Semantic</a:t>
            </a:r>
            <a:br/>
            <a:r>
              <a:t>Criticality &amp; Deadline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6675120" cy="6583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300" b="1">
                <a:solidFill>
                  <a:srgbClr val="2466AB"/>
                </a:solidFill>
                <a:latin typeface="Aptos"/>
              </a:defRPr>
            </a:pPr>
            <a:r>
              <a:t>for V2V Safety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999232"/>
            <a:ext cx="635508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0">
                <a:solidFill>
                  <a:srgbClr val="5D6976"/>
                </a:solidFill>
                <a:latin typeface="Aptos"/>
              </a:defRPr>
            </a:pPr>
            <a:r>
              <a:t>A machine-learning approach to help connected vehicles</a:t>
            </a:r>
            <a:br/>
            <a:r>
              <a:t>understand which safety messages need attention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977639"/>
            <a:ext cx="1600200" cy="384048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603504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5D6976"/>
                </a:solidFill>
                <a:latin typeface="Aptos"/>
              </a:defRPr>
            </a:pPr>
            <a:r>
              <a:t>25SC2107E  •  A.Y.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612648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232A32"/>
                </a:solidFill>
                <a:latin typeface="Aptos"/>
              </a:defRPr>
            </a:pPr>
            <a:r>
              <a:t>S. Shiva Bharath  •  G. Chandu  •  G. Mahati Sankar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62179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5D6976"/>
                </a:solidFill>
                <a:latin typeface="Aptos"/>
              </a:defRPr>
            </a:pPr>
            <a:r>
              <a:t>Under the guidance of Dr. Vinnakota Venu Balaji, Assistant Professor, ECE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749808"/>
            <a:ext cx="292608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CONNECTED VEHICLES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196388"/>
            <a:ext cx="1559052" cy="452628"/>
          </a:xfrm>
          <a:prstGeom prst="roundRect">
            <a:avLst/>
          </a:prstGeom>
          <a:solidFill>
            <a:srgbClr val="2C9DBE"/>
          </a:solidFill>
          <a:ln>
            <a:solidFill>
              <a:srgbClr val="2C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rapezoid 11"/>
          <p:cNvSpPr/>
          <p:nvPr/>
        </p:nvSpPr>
        <p:spPr>
          <a:xfrm>
            <a:off x="8901684" y="1874519"/>
            <a:ext cx="854964" cy="482803"/>
          </a:xfrm>
          <a:prstGeom prst="trapezoid">
            <a:avLst/>
          </a:prstGeom>
          <a:solidFill>
            <a:srgbClr val="2C9DBE"/>
          </a:solidFill>
          <a:ln>
            <a:solidFill>
              <a:srgbClr val="2C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770924" y="2498140"/>
            <a:ext cx="271576" cy="271576"/>
          </a:xfrm>
          <a:prstGeom prst="ellipse">
            <a:avLst/>
          </a:prstGeom>
          <a:solidFill>
            <a:srgbClr val="23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35947" y="2498140"/>
            <a:ext cx="271576" cy="271576"/>
          </a:xfrm>
          <a:prstGeom prst="ellipse">
            <a:avLst/>
          </a:prstGeom>
          <a:solidFill>
            <a:srgbClr val="23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9056" y="2830068"/>
            <a:ext cx="1760220" cy="3520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>
                <a:solidFill>
                  <a:srgbClr val="5D6976"/>
                </a:solidFill>
                <a:latin typeface="Aptos"/>
              </a:defRPr>
            </a:pPr>
            <a:r>
              <a:t>Vehicle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4116628"/>
            <a:ext cx="1559052" cy="452628"/>
          </a:xfrm>
          <a:prstGeom prst="roundRect">
            <a:avLst/>
          </a:prstGeom>
          <a:solidFill>
            <a:srgbClr val="E68437"/>
          </a:solidFill>
          <a:ln>
            <a:solidFill>
              <a:srgbClr val="E6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rapezoid 16"/>
          <p:cNvSpPr/>
          <p:nvPr/>
        </p:nvSpPr>
        <p:spPr>
          <a:xfrm>
            <a:off x="10547604" y="3794760"/>
            <a:ext cx="854964" cy="482803"/>
          </a:xfrm>
          <a:prstGeom prst="trapezoid">
            <a:avLst/>
          </a:prstGeom>
          <a:solidFill>
            <a:srgbClr val="E68437"/>
          </a:solidFill>
          <a:ln>
            <a:solidFill>
              <a:srgbClr val="E6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416844" y="4418380"/>
            <a:ext cx="271576" cy="271576"/>
          </a:xfrm>
          <a:prstGeom prst="ellipse">
            <a:avLst/>
          </a:prstGeom>
          <a:solidFill>
            <a:srgbClr val="23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81867" y="4418380"/>
            <a:ext cx="271576" cy="271576"/>
          </a:xfrm>
          <a:prstGeom prst="ellipse">
            <a:avLst/>
          </a:prstGeom>
          <a:solidFill>
            <a:srgbClr val="23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94976" y="4750308"/>
            <a:ext cx="1760220" cy="3520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>
                <a:solidFill>
                  <a:srgbClr val="5D6976"/>
                </a:solidFill>
                <a:latin typeface="Aptos"/>
              </a:defRPr>
            </a:pPr>
            <a:r>
              <a:t>Vehicle 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02368" y="2395728"/>
            <a:ext cx="393192" cy="1371600"/>
          </a:xfrm>
          <a:prstGeom prst="line">
            <a:avLst/>
          </a:prstGeom>
          <a:ln w="304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0" y="2880360"/>
            <a:ext cx="15087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2746"/>
                </a:solidFill>
                <a:latin typeface="Aptos"/>
              </a:defRPr>
            </a:pPr>
            <a:r>
              <a:t>V2V MESSAGE</a:t>
            </a:r>
          </a:p>
        </p:txBody>
      </p:sp>
      <p:pic>
        <p:nvPicPr>
          <p:cNvPr id="23" name="Picture 22" descr="source_imag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5166360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746"/>
                </a:solidFill>
                <a:latin typeface="Aptos Display"/>
              </a:defRPr>
            </a:pPr>
            <a:r>
              <a:t>1. Why V2V safety messages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6"/>
                </a:solidFill>
                <a:latin typeface="Aptos"/>
              </a:defRPr>
            </a:pPr>
            <a:r>
              <a:t>Vehicles can share warnings in real time—but not every warning deserves the same urgency.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52628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1">
                <a:solidFill>
                  <a:srgbClr val="132746"/>
                </a:solidFill>
                <a:latin typeface="Aptos"/>
              </a:defRPr>
            </a:pPr>
            <a:r>
              <a:t>What vehicles may communicate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45262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Sudden braking or a vehicle stopping nearby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Accidents and road obstacles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Traffic conditions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Emergency situations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1732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48006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1">
                <a:solidFill>
                  <a:srgbClr val="132746"/>
                </a:solidFill>
                <a:latin typeface="Aptos"/>
              </a:defRPr>
            </a:pPr>
            <a:r>
              <a:t>The real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050438"/>
            <a:ext cx="1488186" cy="432054"/>
          </a:xfrm>
          <a:prstGeom prst="roundRect">
            <a:avLst/>
          </a:prstGeom>
          <a:solidFill>
            <a:srgbClr val="2466AB"/>
          </a:solidFill>
          <a:ln>
            <a:solidFill>
              <a:srgbClr val="2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rapezoid 10"/>
          <p:cNvSpPr/>
          <p:nvPr/>
        </p:nvSpPr>
        <p:spPr>
          <a:xfrm>
            <a:off x="6874002" y="2743200"/>
            <a:ext cx="816102" cy="460857"/>
          </a:xfrm>
          <a:prstGeom prst="trapezoid">
            <a:avLst/>
          </a:prstGeom>
          <a:solidFill>
            <a:srgbClr val="2466AB"/>
          </a:solidFill>
          <a:ln>
            <a:solidFill>
              <a:srgbClr val="2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49186" y="3338474"/>
            <a:ext cx="259232" cy="259232"/>
          </a:xfrm>
          <a:prstGeom prst="ellipse">
            <a:avLst/>
          </a:prstGeom>
          <a:solidFill>
            <a:srgbClr val="23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74889" y="3338474"/>
            <a:ext cx="259232" cy="259232"/>
          </a:xfrm>
          <a:prstGeom prst="ellipse">
            <a:avLst/>
          </a:prstGeom>
          <a:solidFill>
            <a:srgbClr val="23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1948" y="3655314"/>
            <a:ext cx="1680210" cy="33604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0">
                <a:solidFill>
                  <a:srgbClr val="5D6976"/>
                </a:solidFill>
                <a:latin typeface="Aptos"/>
              </a:defRPr>
            </a:pPr>
            <a:r>
              <a:t>Sender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3050438"/>
            <a:ext cx="1488186" cy="432054"/>
          </a:xfrm>
          <a:prstGeom prst="roundRect">
            <a:avLst/>
          </a:prstGeom>
          <a:solidFill>
            <a:srgbClr val="23847A"/>
          </a:solidFill>
          <a:ln>
            <a:solidFill>
              <a:srgbClr val="23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rapezoid 15"/>
          <p:cNvSpPr/>
          <p:nvPr/>
        </p:nvSpPr>
        <p:spPr>
          <a:xfrm>
            <a:off x="10165842" y="2743200"/>
            <a:ext cx="816102" cy="460857"/>
          </a:xfrm>
          <a:prstGeom prst="trapezoid">
            <a:avLst/>
          </a:prstGeom>
          <a:solidFill>
            <a:srgbClr val="23847A"/>
          </a:solidFill>
          <a:ln>
            <a:solidFill>
              <a:srgbClr val="23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41026" y="3338474"/>
            <a:ext cx="259232" cy="259232"/>
          </a:xfrm>
          <a:prstGeom prst="ellipse">
            <a:avLst/>
          </a:prstGeom>
          <a:solidFill>
            <a:srgbClr val="23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66729" y="3338474"/>
            <a:ext cx="259232" cy="259232"/>
          </a:xfrm>
          <a:prstGeom prst="ellipse">
            <a:avLst/>
          </a:prstGeom>
          <a:solidFill>
            <a:srgbClr val="23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3788" y="3655314"/>
            <a:ext cx="1680210" cy="33604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0">
                <a:solidFill>
                  <a:srgbClr val="5D6976"/>
                </a:solidFill>
                <a:latin typeface="Aptos"/>
              </a:defRPr>
            </a:pPr>
            <a:r>
              <a:t>Receiver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92440" y="2999232"/>
            <a:ext cx="1691640" cy="0"/>
          </a:xfrm>
          <a:prstGeom prst="line">
            <a:avLst/>
          </a:prstGeom>
          <a:ln w="27940">
            <a:solidFill>
              <a:srgbClr val="246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19872" y="2423160"/>
            <a:ext cx="1417320" cy="384048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913632"/>
            <a:ext cx="457200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C33F3F"/>
                </a:solidFill>
                <a:latin typeface="Aptos"/>
              </a:defRPr>
            </a:pPr>
            <a:r>
              <a:t>If every message is treated equally, a</a:t>
            </a:r>
            <a:br/>
            <a:r>
              <a:t>life-critical warning can get delayed.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074920"/>
            <a:ext cx="43434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5D6976"/>
                </a:solidFill>
                <a:latin typeface="Aptos"/>
              </a:defRPr>
            </a:pPr>
            <a:r>
              <a:t>So the system must answer two questions: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5486400"/>
            <a:ext cx="1737360" cy="384048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HOW IMPORTANT?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486400"/>
            <a:ext cx="1508760" cy="384048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HOW FAST?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6"/>
                </a:solidFill>
                <a:latin typeface="Aptos"/>
              </a:defRPr>
            </a:pPr>
            <a:r>
              <a:t>Machine Learning • ECE • A.Y. 2026–27     |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746"/>
                </a:solidFill>
                <a:latin typeface="Aptos Display"/>
              </a:defRPr>
            </a:pPr>
            <a:r>
              <a:t>2. The problem: one queue, different urgency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6"/>
                </a:solidFill>
                <a:latin typeface="Aptos"/>
              </a:defRPr>
            </a:pPr>
            <a:r>
              <a:t>A simple keyword check is not enough to understand the meaning and context of a safety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7315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673351"/>
            <a:ext cx="1051560" cy="365760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4831" y="1655063"/>
            <a:ext cx="544068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232A32"/>
                </a:solidFill>
                <a:latin typeface="Aptos"/>
              </a:defRPr>
            </a:pPr>
            <a:r>
              <a:t>“Vehicle stopped suddenly 20 m ahead.”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2075688"/>
            <a:ext cx="5440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5D6976"/>
                </a:solidFill>
                <a:latin typeface="Aptos"/>
              </a:defRPr>
            </a:pPr>
            <a:r>
              <a:t>Immediate danger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62072"/>
            <a:ext cx="7315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3026664"/>
            <a:ext cx="1051560" cy="365760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3008376"/>
            <a:ext cx="544068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232A32"/>
                </a:solidFill>
                <a:latin typeface="Aptos"/>
              </a:defRPr>
            </a:pPr>
            <a:r>
              <a:t>“Road construction 5 km ahead.”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3429000"/>
            <a:ext cx="5440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5D6976"/>
                </a:solidFill>
                <a:latin typeface="Aptos"/>
              </a:defRPr>
            </a:pPr>
            <a:r>
              <a:t>Useful, but less urgent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15383"/>
            <a:ext cx="7315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379975"/>
            <a:ext cx="1051560" cy="365760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4361688"/>
            <a:ext cx="544068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232A32"/>
                </a:solidFill>
                <a:latin typeface="Aptos"/>
              </a:defRPr>
            </a:pPr>
            <a:r>
              <a:t>“Traffic is slowing near the junction.”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4782312"/>
            <a:ext cx="5440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0">
                <a:solidFill>
                  <a:srgbClr val="5D6976"/>
                </a:solidFill>
                <a:latin typeface="Aptos"/>
              </a:defRPr>
            </a:pPr>
            <a:r>
              <a:t>Situation-dependent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508760"/>
            <a:ext cx="3246120" cy="4389120"/>
          </a:xfrm>
          <a:prstGeom prst="roundRect">
            <a:avLst/>
          </a:prstGeom>
          <a:solidFill>
            <a:srgbClr val="132746"/>
          </a:solidFill>
          <a:ln w="12700">
            <a:solidFill>
              <a:srgbClr val="13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77072" y="1828800"/>
            <a:ext cx="265176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Priority 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578608"/>
            <a:ext cx="2331720" cy="438912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  Critical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236976"/>
            <a:ext cx="2331720" cy="438912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  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895344"/>
            <a:ext cx="2331720" cy="438912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  Medium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553712"/>
            <a:ext cx="2331720" cy="438912"/>
          </a:xfrm>
          <a:prstGeom prst="round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  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5349240"/>
            <a:ext cx="265176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Process the urgent ones first.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6"/>
                </a:solidFill>
                <a:latin typeface="Aptos"/>
              </a:defRPr>
            </a:pPr>
            <a:r>
              <a:t>Machine Learning • ECE • A.Y. 2026–27     |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746"/>
                </a:solidFill>
                <a:latin typeface="Aptos Display"/>
              </a:defRPr>
            </a:pPr>
            <a:r>
              <a:t>3.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6"/>
                </a:solidFill>
                <a:latin typeface="Aptos"/>
              </a:defRPr>
            </a:pPr>
            <a:r>
              <a:t>Use a Transformer-based NLP model to understand the message before assigning its urgency.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1691640" cy="109728"/>
          </a:xfrm>
          <a:prstGeom prst="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395728"/>
            <a:ext cx="1472184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32746"/>
                </a:solidFill>
                <a:latin typeface="Aptos"/>
              </a:defRPr>
            </a:pPr>
            <a:r>
              <a:t>V2V</a:t>
            </a:r>
            <a:br/>
            <a:r>
              <a:t>message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13432" y="2670048"/>
            <a:ext cx="402336" cy="0"/>
          </a:xfrm>
          <a:prstGeom prst="line">
            <a:avLst/>
          </a:prstGeom>
          <a:ln w="2540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05740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8920" y="2057400"/>
            <a:ext cx="1691640" cy="109728"/>
          </a:xfrm>
          <a:prstGeom prst="rect">
            <a:avLst/>
          </a:prstGeom>
          <a:solidFill>
            <a:srgbClr val="2C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98648" y="2395728"/>
            <a:ext cx="1472184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32746"/>
                </a:solidFill>
                <a:latin typeface="Aptos"/>
              </a:defRPr>
            </a:pPr>
            <a:r>
              <a:t>Transformer</a:t>
            </a:r>
            <a:br/>
            <a:r>
              <a:t>NLP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07992" y="2670048"/>
            <a:ext cx="402335" cy="0"/>
          </a:xfrm>
          <a:prstGeom prst="line">
            <a:avLst/>
          </a:prstGeom>
          <a:ln w="2540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83480" y="205740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3480" y="2057400"/>
            <a:ext cx="1691640" cy="109728"/>
          </a:xfrm>
          <a:prstGeom prst="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3208" y="2395728"/>
            <a:ext cx="1472184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32746"/>
                </a:solidFill>
                <a:latin typeface="Aptos"/>
              </a:defRPr>
            </a:pPr>
            <a:r>
              <a:t>Semantic</a:t>
            </a:r>
            <a:br/>
            <a:r>
              <a:t>understanding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2552" y="2670048"/>
            <a:ext cx="402336" cy="0"/>
          </a:xfrm>
          <a:prstGeom prst="line">
            <a:avLst/>
          </a:prstGeom>
          <a:ln w="2540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78040" y="205740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78040" y="2057400"/>
            <a:ext cx="1691640" cy="109728"/>
          </a:xfrm>
          <a:prstGeom prst="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7768" y="2395728"/>
            <a:ext cx="1472184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32746"/>
                </a:solidFill>
                <a:latin typeface="Aptos"/>
              </a:defRPr>
            </a:pPr>
            <a:r>
              <a:t>Criticality</a:t>
            </a:r>
            <a:br/>
            <a:r>
              <a:t>level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97112" y="2670048"/>
            <a:ext cx="402336" cy="0"/>
          </a:xfrm>
          <a:prstGeom prst="line">
            <a:avLst/>
          </a:prstGeom>
          <a:ln w="2540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72600" y="2057400"/>
            <a:ext cx="1691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72600" y="2057400"/>
            <a:ext cx="1691640" cy="109728"/>
          </a:xfrm>
          <a:prstGeom prst="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2395728"/>
            <a:ext cx="1472184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32746"/>
                </a:solidFill>
                <a:latin typeface="Aptos"/>
              </a:defRPr>
            </a:pPr>
            <a:r>
              <a:t>Deadline /</a:t>
            </a:r>
            <a:br/>
            <a:r>
              <a:t>response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3977639"/>
            <a:ext cx="9464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27632" y="4224528"/>
            <a:ext cx="891540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2466AB"/>
                </a:solidFill>
                <a:latin typeface="Aptos"/>
              </a:defRPr>
            </a:pPr>
            <a:r>
              <a:t>In simple words: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645152"/>
            <a:ext cx="8961120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232A32"/>
                </a:solidFill>
                <a:latin typeface="Aptos"/>
              </a:defRPr>
            </a:pPr>
            <a:r>
              <a:t>“Read the message → understand what it means → decide how serious it is → decide how quickly it must be handled.”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6"/>
                </a:solidFill>
                <a:latin typeface="Aptos"/>
              </a:defRPr>
            </a:pPr>
            <a:r>
              <a:t>Machine Learning • ECE • A.Y. 2026–27     |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C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746"/>
                </a:solidFill>
                <a:latin typeface="Aptos Display"/>
              </a:defRPr>
            </a:pPr>
            <a:r>
              <a:t>4. How the Transformer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6"/>
                </a:solidFill>
                <a:latin typeface="Aptos"/>
              </a:defRPr>
            </a:pPr>
            <a:r>
              <a:t>Instead of only spotting keywords, the model uses words and their surrounding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81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33272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200" b="1">
                <a:solidFill>
                  <a:srgbClr val="132746"/>
                </a:solidFill>
                <a:latin typeface="Aptos"/>
              </a:defRPr>
            </a:pPr>
            <a:r>
              <a:t>“A vehicle suddenly stopped near me.”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31720"/>
            <a:ext cx="1325880" cy="365760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vehicle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331720"/>
            <a:ext cx="1325880" cy="365760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suddenly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1325880" cy="365760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331720"/>
            <a:ext cx="1325880" cy="365760"/>
          </a:xfrm>
          <a:prstGeom prst="round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331720"/>
            <a:ext cx="1325880" cy="365760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8288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5D6976"/>
                </a:solidFill>
                <a:latin typeface="Aptos"/>
              </a:defRPr>
            </a:pPr>
            <a:r>
              <a:t>CONTEXT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724912"/>
            <a:ext cx="2011680" cy="932688"/>
          </a:xfrm>
          <a:prstGeom prst="line">
            <a:avLst/>
          </a:prstGeom>
          <a:ln w="15240">
            <a:solidFill>
              <a:srgbClr val="2C9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20440" y="2724912"/>
            <a:ext cx="320040" cy="932688"/>
          </a:xfrm>
          <a:prstGeom prst="line">
            <a:avLst/>
          </a:prstGeom>
          <a:ln w="15240">
            <a:solidFill>
              <a:srgbClr val="2C9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840480" y="2724912"/>
            <a:ext cx="1371600" cy="932688"/>
          </a:xfrm>
          <a:prstGeom prst="line">
            <a:avLst/>
          </a:prstGeom>
          <a:ln w="15240">
            <a:solidFill>
              <a:srgbClr val="2C9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840480" y="2724912"/>
            <a:ext cx="3063240" cy="932688"/>
          </a:xfrm>
          <a:prstGeom prst="line">
            <a:avLst/>
          </a:prstGeom>
          <a:ln w="15240">
            <a:solidFill>
              <a:srgbClr val="2C9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63240" y="3474720"/>
            <a:ext cx="6080760" cy="1143000"/>
          </a:xfrm>
          <a:prstGeom prst="roundRect">
            <a:avLst/>
          </a:prstGeom>
          <a:solidFill>
            <a:srgbClr val="132746"/>
          </a:solidFill>
          <a:ln w="12700">
            <a:solidFill>
              <a:srgbClr val="13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3730752"/>
            <a:ext cx="5532120" cy="4754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Transformer representation</a:t>
            </a:r>
            <a:br/>
            <a:r>
              <a:t>captures relationships between words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4645152"/>
            <a:ext cx="0" cy="402336"/>
          </a:xfrm>
          <a:prstGeom prst="line">
            <a:avLst/>
          </a:prstGeom>
          <a:ln w="29209">
            <a:solidFill>
              <a:srgbClr val="E68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92040" y="5102352"/>
            <a:ext cx="2468880" cy="438912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HIGH /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42432"/>
            <a:ext cx="1024128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Key idea: “suddenly” + “stopped” + “near” changes the urgency of the message.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6"/>
                </a:solidFill>
                <a:latin typeface="Aptos"/>
              </a:defRPr>
            </a:pPr>
            <a:r>
              <a:t>Machine Learning • ECE • A.Y. 2026–27     |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746"/>
                </a:solidFill>
                <a:latin typeface="Aptos Display"/>
              </a:defRPr>
            </a:pPr>
            <a:r>
              <a:t>5. Two outputs: criticality + deadline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6"/>
                </a:solidFill>
                <a:latin typeface="Aptos"/>
              </a:defRPr>
            </a:pPr>
            <a:r>
              <a:t>The project combines importance with time sensitivity so messages can be ordered by urgency.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466344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1">
                <a:solidFill>
                  <a:srgbClr val="132746"/>
                </a:solidFill>
                <a:latin typeface="Aptos"/>
              </a:defRPr>
            </a:pPr>
            <a:r>
              <a:t>A. Criticality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5138928"/>
            <a:ext cx="1417320" cy="438912"/>
          </a:xfrm>
          <a:prstGeom prst="round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71700" y="4425696"/>
            <a:ext cx="1920240" cy="438912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39" y="3712464"/>
            <a:ext cx="2423160" cy="438912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8779" y="2999232"/>
            <a:ext cx="2926080" cy="438912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719072"/>
            <a:ext cx="47091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1">
                <a:solidFill>
                  <a:srgbClr val="132746"/>
                </a:solidFill>
                <a:latin typeface="Aptos"/>
              </a:defRPr>
            </a:pPr>
            <a:r>
              <a:t>B. Deadline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331720"/>
            <a:ext cx="461772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232A32"/>
                </a:solidFill>
                <a:latin typeface="Aptos"/>
              </a:defRPr>
            </a:pPr>
            <a:r>
              <a:t>How quickly does this message</a:t>
            </a:r>
            <a:br/>
            <a:r>
              <a:t>need to be processed?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60" y="3886200"/>
            <a:ext cx="3566160" cy="0"/>
          </a:xfrm>
          <a:prstGeom prst="line">
            <a:avLst/>
          </a:prstGeom>
          <a:ln w="3810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903720" y="3794760"/>
            <a:ext cx="182880" cy="182880"/>
          </a:xfrm>
          <a:prstGeom prst="ellipse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160520"/>
            <a:ext cx="822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00" b="1">
                <a:solidFill>
                  <a:srgbClr val="C33F3F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7" name="Oval 16"/>
          <p:cNvSpPr/>
          <p:nvPr/>
        </p:nvSpPr>
        <p:spPr>
          <a:xfrm>
            <a:off x="8138160" y="3794760"/>
            <a:ext cx="182880" cy="182880"/>
          </a:xfrm>
          <a:prstGeom prst="ellipse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4160520"/>
            <a:ext cx="822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00" b="1">
                <a:solidFill>
                  <a:srgbClr val="E68437"/>
                </a:solidFill>
                <a:latin typeface="Aptos"/>
              </a:defRPr>
            </a:pPr>
            <a:r>
              <a:t>SOON</a:t>
            </a:r>
          </a:p>
        </p:txBody>
      </p:sp>
      <p:sp>
        <p:nvSpPr>
          <p:cNvPr id="19" name="Oval 18"/>
          <p:cNvSpPr/>
          <p:nvPr/>
        </p:nvSpPr>
        <p:spPr>
          <a:xfrm>
            <a:off x="9372600" y="3794760"/>
            <a:ext cx="182880" cy="182880"/>
          </a:xfrm>
          <a:prstGeom prst="ellipse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4160520"/>
            <a:ext cx="822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00" b="1">
                <a:solidFill>
                  <a:srgbClr val="2466AB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21" name="Oval 20"/>
          <p:cNvSpPr/>
          <p:nvPr/>
        </p:nvSpPr>
        <p:spPr>
          <a:xfrm>
            <a:off x="10469880" y="3794760"/>
            <a:ext cx="182880" cy="182880"/>
          </a:xfrm>
          <a:prstGeom prst="ellipse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4160520"/>
            <a:ext cx="822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00" b="1">
                <a:solidFill>
                  <a:srgbClr val="23847A"/>
                </a:solidFill>
                <a:latin typeface="Aptos"/>
              </a:defRPr>
            </a:pPr>
            <a:r>
              <a:t>LOW URGENCY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00600"/>
            <a:ext cx="452628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C33F3F"/>
                </a:solidFill>
                <a:latin typeface="Aptos"/>
              </a:defRPr>
            </a:pPr>
            <a:r>
              <a:t>Example: sudden stop nearby → high criticality + very short deadline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5504688"/>
            <a:ext cx="2743200" cy="438912"/>
          </a:xfrm>
          <a:prstGeom prst="roundRect">
            <a:avLst/>
          </a:prstGeom>
          <a:solidFill>
            <a:srgbClr val="13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F1 = 2 × Precision × Recall / (Precision + Recall)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6"/>
                </a:solidFill>
                <a:latin typeface="Aptos"/>
              </a:defRPr>
            </a:pPr>
            <a:r>
              <a:t>Machine Learning • ECE • A.Y. 2026–27     |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746"/>
                </a:solidFill>
                <a:latin typeface="Aptos Display"/>
              </a:defRPr>
            </a:pPr>
            <a:r>
              <a:t>6. End-to-end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6"/>
                </a:solidFill>
                <a:latin typeface="Aptos"/>
              </a:defRPr>
            </a:pPr>
            <a:r>
              <a:t>From incoming V2V text to an urgency-aware message queue.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4028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" y="2029968"/>
            <a:ext cx="420624" cy="420624"/>
          </a:xfrm>
          <a:prstGeom prst="ellipse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33472"/>
            <a:ext cx="1389888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132746"/>
                </a:solidFill>
                <a:latin typeface="Aptos"/>
              </a:defRPr>
            </a:pPr>
            <a:r>
              <a:t>Receive</a:t>
            </a:r>
            <a:br/>
            <a:r>
              <a:t>V2V message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862072"/>
            <a:ext cx="274320" cy="0"/>
          </a:xfrm>
          <a:prstGeom prst="line">
            <a:avLst/>
          </a:prstGeom>
          <a:ln w="2286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50008" y="224028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26080" y="2029968"/>
            <a:ext cx="420624" cy="420624"/>
          </a:xfrm>
          <a:prstGeom prst="ellipse">
            <a:avLst/>
          </a:prstGeom>
          <a:solidFill>
            <a:srgbClr val="2C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2633472"/>
            <a:ext cx="1389888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132746"/>
                </a:solidFill>
                <a:latin typeface="Aptos"/>
              </a:defRPr>
            </a:pPr>
            <a:r>
              <a:t>Clean /</a:t>
            </a:r>
            <a:br/>
            <a:r>
              <a:t>prepare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0208" y="2862072"/>
            <a:ext cx="274320" cy="0"/>
          </a:xfrm>
          <a:prstGeom prst="line">
            <a:avLst/>
          </a:prstGeom>
          <a:ln w="2286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88536" y="224028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64608" y="2029968"/>
            <a:ext cx="420624" cy="420624"/>
          </a:xfrm>
          <a:prstGeom prst="ellipse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633472"/>
            <a:ext cx="1389888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132746"/>
                </a:solidFill>
                <a:latin typeface="Aptos"/>
              </a:defRPr>
            </a:pPr>
            <a:r>
              <a:t>Transformer</a:t>
            </a:r>
            <a:br/>
            <a:r>
              <a:t>encoding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88736" y="2862072"/>
            <a:ext cx="274320" cy="0"/>
          </a:xfrm>
          <a:prstGeom prst="line">
            <a:avLst/>
          </a:prstGeom>
          <a:ln w="2286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27064" y="224028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03136" y="2029968"/>
            <a:ext cx="420624" cy="420624"/>
          </a:xfrm>
          <a:prstGeom prst="ellipse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633472"/>
            <a:ext cx="1389888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132746"/>
                </a:solidFill>
                <a:latin typeface="Aptos"/>
              </a:defRPr>
            </a:pPr>
            <a:r>
              <a:t>Predict</a:t>
            </a:r>
            <a:br/>
            <a:r>
              <a:t>criticality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7264" y="2862072"/>
            <a:ext cx="274319" cy="0"/>
          </a:xfrm>
          <a:prstGeom prst="line">
            <a:avLst/>
          </a:prstGeom>
          <a:ln w="2286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65592" y="224028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41664" y="2029968"/>
            <a:ext cx="420624" cy="420624"/>
          </a:xfrm>
          <a:prstGeom prst="ellipse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633472"/>
            <a:ext cx="1389888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132746"/>
                </a:solidFill>
                <a:latin typeface="Aptos"/>
              </a:defRPr>
            </a:pPr>
            <a:r>
              <a:t>Predict</a:t>
            </a:r>
            <a:br/>
            <a:r>
              <a:t>deadline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65792" y="2862072"/>
            <a:ext cx="274320" cy="0"/>
          </a:xfrm>
          <a:prstGeom prst="line">
            <a:avLst/>
          </a:prstGeom>
          <a:ln w="22860">
            <a:solidFill>
              <a:srgbClr val="5D6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04120" y="224028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80192" y="2029968"/>
            <a:ext cx="420624" cy="420624"/>
          </a:xfrm>
          <a:prstGeom prst="ellipse">
            <a:avLst/>
          </a:prstGeom>
          <a:solidFill>
            <a:srgbClr val="13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633472"/>
            <a:ext cx="1389888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132746"/>
                </a:solidFill>
                <a:latin typeface="Aptos"/>
              </a:defRPr>
            </a:pPr>
            <a:r>
              <a:t>Prioritize</a:t>
            </a:r>
            <a:br/>
            <a:r>
              <a:t>messages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60520"/>
            <a:ext cx="9875520" cy="1417320"/>
          </a:xfrm>
          <a:prstGeom prst="roundRect">
            <a:avLst/>
          </a:prstGeom>
          <a:solidFill>
            <a:srgbClr val="132746"/>
          </a:solidFill>
          <a:ln w="12700">
            <a:solidFill>
              <a:srgbClr val="13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63040" y="4407408"/>
            <a:ext cx="201168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FINAL QUEUE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4370832"/>
            <a:ext cx="1920240" cy="411480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CRITICAL • NOW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4370832"/>
            <a:ext cx="1645920" cy="411480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HIGH • SOON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4370832"/>
            <a:ext cx="1828800" cy="411480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MEDIUM • LATER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370832"/>
            <a:ext cx="1508760" cy="411480"/>
          </a:xfrm>
          <a:prstGeom prst="round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919472"/>
            <a:ext cx="896112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Goal: the most important and time-sensitive safety messages are handled first.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6"/>
                </a:solidFill>
                <a:latin typeface="Aptos"/>
              </a:defRPr>
            </a:pPr>
            <a:r>
              <a:t>Machine Learning • ECE • A.Y. 2026–27     |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746"/>
                </a:solidFill>
                <a:latin typeface="Aptos Display"/>
              </a:defRPr>
            </a:pPr>
            <a:r>
              <a:t>7. Data, training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6"/>
                </a:solidFill>
                <a:latin typeface="Aptos"/>
              </a:defRPr>
            </a:pPr>
            <a:r>
              <a:t>The abstract proposes a labelled dataset and standard ML metrics to check whether the model works well.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315468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1">
                <a:solidFill>
                  <a:srgbClr val="132746"/>
                </a:solidFill>
                <a:latin typeface="Aptos"/>
              </a:defRPr>
            </a:pPr>
            <a:r>
              <a:t>Training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67712"/>
            <a:ext cx="306324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• Safety message text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• Criticality label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• Expected response time / deadline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417320"/>
            <a:ext cx="69494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64608" y="1719072"/>
            <a:ext cx="626364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1">
                <a:solidFill>
                  <a:srgbClr val="132746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331720"/>
            <a:ext cx="1417320" cy="402336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59151"/>
            <a:ext cx="44348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t>Overall correctness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081527"/>
            <a:ext cx="1417320" cy="402336"/>
          </a:xfrm>
          <a:prstGeom prst="round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108959"/>
            <a:ext cx="44348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t>How many predicted positives are correct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3831335"/>
            <a:ext cx="1417320" cy="402336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858768"/>
            <a:ext cx="44348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t>How many true positives are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581144"/>
            <a:ext cx="1417320" cy="402336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08576"/>
            <a:ext cx="44348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t>Balance between precision and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5413248"/>
            <a:ext cx="6126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00" b="1">
                <a:solidFill>
                  <a:srgbClr val="5D6976"/>
                </a:solidFill>
                <a:latin typeface="Aptos"/>
              </a:defRPr>
            </a:pPr>
            <a:r>
              <a:t>Higher-quality predictions should lead to better prioritization of urgent messages.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6"/>
                </a:solidFill>
                <a:latin typeface="Aptos"/>
              </a:defRPr>
            </a:pPr>
            <a:r>
              <a:t>Machine Learning • ECE • A.Y. 2026–27     |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C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32746"/>
                </a:solidFill>
                <a:latin typeface="Aptos Display"/>
              </a:defRPr>
            </a:pPr>
            <a:r>
              <a:t>8.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D6976"/>
                </a:solidFill>
                <a:latin typeface="Aptos"/>
              </a:defRPr>
            </a:pPr>
            <a:r>
              <a:t>The software stack listed in the project abstract supports model development, analysis and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1600200"/>
            <a:ext cx="1143000" cy="365760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Python 3.10+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5740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Core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4475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45151" y="1600200"/>
            <a:ext cx="1143000" cy="365760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160020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PyTorch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205740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Deep-learning framework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44475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67344" y="1600200"/>
            <a:ext cx="1143000" cy="365760"/>
          </a:xfrm>
          <a:prstGeom prst="roundRect">
            <a:avLst/>
          </a:prstGeom>
          <a:solidFill>
            <a:srgbClr val="2C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47504" y="160020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Hugging Face</a:t>
            </a:r>
            <a:br/>
            <a:r>
              <a:t>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47504" y="205740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Transformer/NLP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5351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59" y="3108960"/>
            <a:ext cx="1143000" cy="365760"/>
          </a:xfrm>
          <a:prstGeom prst="round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10896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Pandas + 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56616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95351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45151" y="3108960"/>
            <a:ext cx="1143000" cy="365760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310896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356616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ML metrics &amp; utilities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295351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67344" y="3108960"/>
            <a:ext cx="1143000" cy="365760"/>
          </a:xfrm>
          <a:prstGeom prst="roundRect">
            <a:avLst/>
          </a:prstGeom>
          <a:solidFill>
            <a:srgbClr val="13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4" y="310896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Matplotlib + Seaborn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356616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6227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59" y="4617720"/>
            <a:ext cx="1143000" cy="365760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61772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NLTK / spaCy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07492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Text processing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446227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645151" y="4617720"/>
            <a:ext cx="1143000" cy="365760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461772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507492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Simple user interface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4462272"/>
            <a:ext cx="34015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467344" y="4617720"/>
            <a:ext cx="1143000" cy="365760"/>
          </a:xfrm>
          <a:prstGeom prst="roundRect">
            <a:avLst/>
          </a:prstGeom>
          <a:solidFill>
            <a:srgbClr val="23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7504" y="4617720"/>
            <a:ext cx="1755648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132746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7504" y="5074920"/>
            <a:ext cx="1755648" cy="31089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5D6976"/>
                </a:solidFill>
                <a:latin typeface="Aptos"/>
              </a:defRPr>
            </a:pPr>
            <a:r>
              <a:t>Version control (optional)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6"/>
                </a:solidFill>
                <a:latin typeface="Aptos"/>
              </a:defRPr>
            </a:pPr>
            <a:r>
              <a:t>Machine Learning • ECE • A.Y. 2026–27     |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9.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08760"/>
            <a:ext cx="996696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Make connected-vehicle communication more intelligent by giving urgent messages the attention they deserve.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25880" y="2999232"/>
            <a:ext cx="2240280" cy="411480"/>
          </a:xfrm>
          <a:prstGeom prst="roundRect">
            <a:avLst/>
          </a:prstGeom>
          <a:solidFill>
            <a:srgbClr val="2C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57600"/>
            <a:ext cx="2606040" cy="7498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1">
                <a:solidFill>
                  <a:srgbClr val="232A32"/>
                </a:solidFill>
                <a:latin typeface="Aptos"/>
              </a:defRPr>
            </a:pPr>
            <a:r>
              <a:t>Interpret the meaning and context of safety messages.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74320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0" y="2999232"/>
            <a:ext cx="2240280" cy="411480"/>
          </a:xfrm>
          <a:prstGeom prst="roundRect">
            <a:avLst/>
          </a:prstGeom>
          <a:solidFill>
            <a:srgbClr val="E6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657600"/>
            <a:ext cx="2606040" cy="7498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1">
                <a:solidFill>
                  <a:srgbClr val="232A32"/>
                </a:solidFill>
                <a:latin typeface="Aptos"/>
              </a:defRPr>
            </a:pPr>
            <a:r>
              <a:t>Separate low, medium, high and critical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74320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15400" y="2999232"/>
            <a:ext cx="2240280" cy="411480"/>
          </a:xfrm>
          <a:prstGeom prst="round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657600"/>
            <a:ext cx="2606040" cy="7498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1">
                <a:solidFill>
                  <a:srgbClr val="232A32"/>
                </a:solidFill>
                <a:latin typeface="Aptos"/>
              </a:defRPr>
            </a:pPr>
            <a:r>
              <a:t>Use deadline information to support faster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Bottom line: safer V2V communication through semantic understanding + urgency-aware processing.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BECDDC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817</Words>
  <Application>Microsoft Office PowerPoint</Application>
  <PresentationFormat>Widescreen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SIVA BHARATH</cp:lastModifiedBy>
  <cp:revision>1</cp:revision>
  <dcterms:created xsi:type="dcterms:W3CDTF">2013-01-27T09:14:16Z</dcterms:created>
  <dcterms:modified xsi:type="dcterms:W3CDTF">2026-09-15T06:22:06Z</dcterms:modified>
  <cp:category/>
</cp:coreProperties>
</file>